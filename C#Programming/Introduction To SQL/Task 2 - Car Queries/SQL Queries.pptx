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77" r:id="rId2"/>
    <p:sldId id="378" r:id="rId3"/>
    <p:sldId id="357" r:id="rId4"/>
    <p:sldId id="379" r:id="rId5"/>
    <p:sldId id="362" r:id="rId6"/>
    <p:sldId id="361" r:id="rId7"/>
    <p:sldId id="3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A1241-178C-4CEF-A50F-E84A690634C6}" type="datetimeFigureOut">
              <a:rPr lang="en-GB" smtClean="0"/>
              <a:t>18/06/2021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623D5-2418-40EF-B415-73EF92DFD5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56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623D5-2418-40EF-B415-73EF92DFD5A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091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3FECD3-FCDF-44FE-B097-FD44F788210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407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</a:t>
            </a:r>
            <a:r>
              <a:rPr lang="en-GB" baseline="0" dirty="0"/>
              <a:t> is a query? </a:t>
            </a:r>
          </a:p>
          <a:p>
            <a:r>
              <a:rPr lang="en-GB" baseline="0" dirty="0"/>
              <a:t>Students to act as a query help in</a:t>
            </a:r>
          </a:p>
          <a:p>
            <a:endParaRPr lang="en-GB" baseline="0" dirty="0"/>
          </a:p>
          <a:p>
            <a:r>
              <a:rPr lang="en-GB" baseline="0" dirty="0"/>
              <a:t>5</a:t>
            </a:r>
          </a:p>
          <a:p>
            <a:r>
              <a:rPr lang="en-GB" baseline="0" dirty="0"/>
              <a:t>2</a:t>
            </a:r>
          </a:p>
          <a:p>
            <a:r>
              <a:rPr lang="en-GB" baseline="0" dirty="0"/>
              <a:t>4</a:t>
            </a:r>
          </a:p>
          <a:p>
            <a:r>
              <a:rPr lang="en-GB" baseline="0" dirty="0"/>
              <a:t>2</a:t>
            </a:r>
          </a:p>
          <a:p>
            <a:r>
              <a:rPr lang="en-GB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F9087A-FA90-4299-954F-0F89614B7F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305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F9087A-FA90-4299-954F-0F89614B7F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831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17</a:t>
            </a:r>
          </a:p>
          <a:p>
            <a:endParaRPr lang="en-GB" dirty="0"/>
          </a:p>
          <a:p>
            <a:r>
              <a:rPr lang="en-GB" dirty="0"/>
              <a:t>19</a:t>
            </a:r>
          </a:p>
          <a:p>
            <a:endParaRPr lang="en-GB" dirty="0"/>
          </a:p>
          <a:p>
            <a:r>
              <a:rPr lang="en-GB" dirty="0"/>
              <a:t>23</a:t>
            </a:r>
          </a:p>
          <a:p>
            <a:endParaRPr lang="en-GB" dirty="0"/>
          </a:p>
          <a:p>
            <a:r>
              <a:rPr lang="en-GB" dirty="0"/>
              <a:t>28</a:t>
            </a:r>
          </a:p>
          <a:p>
            <a:endParaRPr lang="en-GB" dirty="0"/>
          </a:p>
          <a:p>
            <a:r>
              <a:rPr lang="en-GB" dirty="0"/>
              <a:t>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F9087A-FA90-4299-954F-0F89614B7F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543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7CD437DC-A092-4F54-8F69-2A41C9DE6F8F}"/>
              </a:ext>
            </a:extLst>
          </p:cNvPr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443" y="1449149"/>
            <a:ext cx="10035117" cy="2971051"/>
          </a:xfrm>
        </p:spPr>
        <p:txBody>
          <a:bodyPr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8443" y="5280847"/>
            <a:ext cx="10035117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458609-3B49-480C-B398-4CFFB37AA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BF602-3609-4772-89CA-4505338D1F56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181ECE1-160B-4C20-BA55-83C2FF51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C9EA60-83E9-406B-8C89-4ED94C02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94FA1-FA7E-4CD6-A28F-A3B5F3CF84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0546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4B5DD8D8-B79C-4D11-B6CC-AC21F30A54FF}"/>
              </a:ext>
            </a:extLst>
          </p:cNvPr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998" y="2222287"/>
            <a:ext cx="10032004" cy="3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087A9D2-649D-48A7-BFF0-8FECBE98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4D176-7A77-476B-83EF-1DCE09357700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32554B-0881-48F2-9990-C95C931D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CBAF45-B20D-4A19-A0C0-CCF0A66E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9DCD3-F52D-4119-8196-D580834D275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792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0058E03D-3FBA-46CB-8D64-DA289B7668AD}"/>
              </a:ext>
            </a:extLst>
          </p:cNvPr>
          <p:cNvSpPr/>
          <p:nvPr/>
        </p:nvSpPr>
        <p:spPr bwMode="auto">
          <a:xfrm>
            <a:off x="0" y="3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2951396"/>
            <a:ext cx="10035116" cy="1468800"/>
          </a:xfrm>
        </p:spPr>
        <p:txBody>
          <a:bodyPr/>
          <a:lstStyle>
            <a:lvl1pPr algn="r">
              <a:defRPr sz="36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3151" y="5281203"/>
            <a:ext cx="10035116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589884-57E3-4E69-9135-C41000DAF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0CE49-1313-4D2D-B230-7694D835E1B7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658CFD-C1AC-47AD-A849-1355A5EB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E48535F-1715-410E-8257-F4D142FB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C2941-D18F-4DEB-8E8E-62AE2228709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6096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C1C22A55-2625-4076-BFFB-6FFFD5AC41AF}"/>
              </a:ext>
            </a:extLst>
          </p:cNvPr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997" y="2222290"/>
            <a:ext cx="4894297" cy="3638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708" y="2222290"/>
            <a:ext cx="4894293" cy="3638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0B3EB98-1C71-48E9-944E-3C3FB791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586E3-3EE5-4FF8-9EA4-8E77A0FEBBC9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AB54905-CDCE-48A1-B6FC-B9C974276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2BF2097-4CE0-4456-94BE-2A371915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B1C1E-2671-4CBC-8BC3-35F6D266476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4669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089DD019-AF7D-4BE6-BDC4-0AA6F358E2D8}"/>
              </a:ext>
            </a:extLst>
          </p:cNvPr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997" y="2174875"/>
            <a:ext cx="489429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9997" y="2751140"/>
            <a:ext cx="4916521" cy="3109913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708" y="2174875"/>
            <a:ext cx="489429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8" y="2751140"/>
            <a:ext cx="4894293" cy="3109913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5D575912-0DE2-4149-A220-AF37325A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E04AC-5982-40A8-AB1C-D3A0B34C7247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33064F95-2FB1-4E05-90DC-830E2EAE1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3D4D8D34-527D-4507-827A-C74F41BF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82FA3-C1BF-4C73-9AEE-7E951633534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8282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>
            <a:extLst>
              <a:ext uri="{FF2B5EF4-FFF2-40B4-BE49-F238E27FC236}">
                <a16:creationId xmlns:a16="http://schemas.microsoft.com/office/drawing/2014/main" id="{D85F9F09-0F0A-465D-B39C-4558C9BFA390}"/>
              </a:ext>
            </a:extLst>
          </p:cNvPr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02E159C-A4DE-4C0F-9B14-5CD2ED0B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B4425-8196-4C65-8707-56E00D5C7193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A7E0B61-BC9F-4FF8-AC66-4114FCD5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7C3DB8A-1C27-44D6-8B25-D993FDFE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FF0A2-4502-4A3C-A594-A858EE7C223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4293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1D05480-7995-4793-987A-99199A9D1D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C382DB5-9A58-4631-999D-B076566AD0E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292B8-C5DB-44E8-89B5-DEDFA9D658EB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ECB930B-D445-472A-9336-D615022F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7E1AE-1F92-4936-BB60-6F38DD61839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71945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47D77521-F356-470D-8320-9546CC3E33D0}"/>
              </a:ext>
            </a:extLst>
          </p:cNvPr>
          <p:cNvSpPr>
            <a:spLocks noChangeAspect="1"/>
          </p:cNvSpPr>
          <p:nvPr/>
        </p:nvSpPr>
        <p:spPr bwMode="auto">
          <a:xfrm>
            <a:off x="1073152" y="446089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2" y="446088"/>
            <a:ext cx="3547533" cy="1618396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4" y="446090"/>
            <a:ext cx="6252633" cy="5414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2" y="2260740"/>
            <a:ext cx="3547533" cy="360031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046591D-8C21-483D-B81B-3237718F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1A7DE-9824-431B-964A-7725574E4997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43F1C06-6D58-4ACA-A688-E3D4F43D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14CC8A2-54FA-418C-B18E-F514E904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FEC63-38B9-4A07-B4F1-CB5A7670F5F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1106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996" y="727524"/>
            <a:ext cx="4668731" cy="1617163"/>
          </a:xfrm>
        </p:spPr>
        <p:txBody>
          <a:bodyPr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algn="ctr">
              <a:buFontTx/>
              <a:buNone/>
              <a:defRPr sz="105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9996" y="2344684"/>
            <a:ext cx="4668731" cy="3516365"/>
          </a:xfrm>
        </p:spPr>
        <p:txBody>
          <a:bodyPr anchor="t"/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27A15-0E3A-4BC3-BCF1-61FAB1CFDC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86200" y="6042026"/>
            <a:ext cx="97578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4F4D2-C093-472A-8C92-EA5840D01917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028F2-A184-459C-925B-82315AD0DB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0552" y="6042026"/>
            <a:ext cx="3295649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11585-2E91-4F4F-AF19-79A5745DA8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1985" y="5916614"/>
            <a:ext cx="1062567" cy="490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877597-1A87-406E-BB1C-EA7561CF776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69178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800600"/>
            <a:ext cx="10035116" cy="566738"/>
          </a:xfrm>
        </p:spPr>
        <p:txBody>
          <a:bodyPr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5367338"/>
            <a:ext cx="10035116" cy="493712"/>
          </a:xfrm>
        </p:spPr>
        <p:txBody>
          <a:bodyPr/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6A538-6141-4842-AAC4-12CB2CEAFB6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5CE7F83-5843-4777-90BA-4AA20FED75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0085D-B92D-480D-989A-9DCE26ED6583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6F722D-F337-4AAE-98E3-089941B6C1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78A8D-5D54-464E-9310-EA7446F9BE9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5435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ED31638D-160E-4145-88FD-3FB975B11BA4}"/>
              </a:ext>
            </a:extLst>
          </p:cNvPr>
          <p:cNvSpPr>
            <a:spLocks noChangeAspect="1"/>
          </p:cNvSpPr>
          <p:nvPr/>
        </p:nvSpPr>
        <p:spPr bwMode="auto">
          <a:xfrm>
            <a:off x="646809" y="1338479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097" y="1495525"/>
            <a:ext cx="5893840" cy="2645912"/>
          </a:xfrm>
        </p:spPr>
        <p:txBody>
          <a:bodyPr/>
          <a:lstStyle>
            <a:lvl1pPr algn="l">
              <a:defRPr sz="315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303" y="4700705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198512" y="1338479"/>
            <a:ext cx="4403088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4C7BF5B-34D2-400C-B8D5-D1F74D11BBB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8004C0-D861-4E55-B074-F3988B10B3AF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FF98E93-3D1A-4DFE-9B37-F6C81844B6C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152EFBB-DE8B-43BF-A501-33454D7164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B676D-4999-480A-9096-1F53703B1F3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83914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6EC76376-B4D5-47DF-901A-5B5136E78080}"/>
              </a:ext>
            </a:extLst>
          </p:cNvPr>
          <p:cNvSpPr>
            <a:spLocks noChangeAspect="1"/>
          </p:cNvSpPr>
          <p:nvPr/>
        </p:nvSpPr>
        <p:spPr bwMode="auto">
          <a:xfrm>
            <a:off x="1140885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90" y="2435959"/>
            <a:ext cx="4382521" cy="2007789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5268" y="2286000"/>
            <a:ext cx="4895851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EFFB40D-34B7-42E2-B384-8BE47FCF4D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2970C-172C-4B8A-9700-005CFFF98E6D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C240135-702B-4920-869C-FACD611898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67AD555-1215-4144-90CE-EA1F293E624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7211A-693A-4834-B13F-37D6765B149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80004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E588F5A6-5101-46A5-A45D-C188401EB3EC}"/>
              </a:ext>
            </a:extLst>
          </p:cNvPr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3E96147-9809-4740-95E5-BFF6FCD4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8B379-8D2D-4236-8967-DF0928D63096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05C836-EE98-4BC8-8B37-4E0DF17B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1790EB-7260-44A7-A951-B72E8814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40092-FBEE-4A37-9C26-6B93C89E56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27384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6DC0DE15-9BCD-4668-9BB9-6DDB7F14B97F}"/>
              </a:ext>
            </a:extLst>
          </p:cNvPr>
          <p:cNvSpPr>
            <a:spLocks noChangeAspect="1"/>
          </p:cNvSpPr>
          <p:nvPr/>
        </p:nvSpPr>
        <p:spPr bwMode="auto">
          <a:xfrm>
            <a:off x="7669652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2A5FBDB-0902-477D-BFA0-39C17E10AFE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6978651" y="0"/>
            <a:ext cx="5213349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1" y="586171"/>
            <a:ext cx="2269067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3151" y="446089"/>
            <a:ext cx="6596501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93F200E-8AAA-4294-A43B-F3FAC2BB0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1499C9-C5F2-4402-B2B9-A942ABA60D83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DD6D930-8903-43DD-9BE7-656F42DD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BD018B9-9EEE-4C54-976D-ADD6028B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67108-7167-4792-A99D-7E91E164131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533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D8D5C-7FAC-4BBA-B9C8-D95798A9B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447676"/>
            <a:ext cx="10033000" cy="969963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21735-3D88-42A0-9D72-84E06F188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2184401"/>
            <a:ext cx="10033000" cy="367506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A8A69-235D-4A40-ADCA-10BB66823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0552" y="6042026"/>
            <a:ext cx="8386233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1E422-87F1-47DB-AF9C-9BAD61D67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15967" y="6042026"/>
            <a:ext cx="132291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5AC284A-76D4-4E08-8946-8976E153BE64}" type="datetimeFigureOut">
              <a:rPr lang="en-US"/>
              <a:pPr>
                <a:defRPr/>
              </a:pPr>
              <a:t>6/18/2021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7F5C-5D29-437B-8EDD-30B263532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38885" y="5916614"/>
            <a:ext cx="1062567" cy="490537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9C2E780-8966-432A-BFB0-02B4ABCB57D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436658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342900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rgbClr val="FEFEFE"/>
          </a:solidFill>
          <a:latin typeface="+mj-lt"/>
          <a:ea typeface="Trebuchet MS" panose="020B0603020202020204" pitchFamily="34" charset="0"/>
          <a:cs typeface="Trebuchet MS"/>
        </a:defRPr>
      </a:lvl1pPr>
      <a:lvl2pPr algn="l" defTabSz="34290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FEFEFE"/>
          </a:solidFill>
          <a:latin typeface="Century Gothic" panose="020B0502020202020204" pitchFamily="34" charset="0"/>
          <a:ea typeface="Trebuchet MS" panose="020B0603020202020204" pitchFamily="34" charset="0"/>
          <a:cs typeface="Trebuchet MS" panose="020B0603020202020204" pitchFamily="34" charset="0"/>
        </a:defRPr>
      </a:lvl2pPr>
      <a:lvl3pPr algn="l" defTabSz="34290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FEFEFE"/>
          </a:solidFill>
          <a:latin typeface="Century Gothic" panose="020B0502020202020204" pitchFamily="34" charset="0"/>
          <a:ea typeface="Trebuchet MS" panose="020B0603020202020204" pitchFamily="34" charset="0"/>
          <a:cs typeface="Trebuchet MS" panose="020B0603020202020204" pitchFamily="34" charset="0"/>
        </a:defRPr>
      </a:lvl3pPr>
      <a:lvl4pPr algn="l" defTabSz="34290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FEFEFE"/>
          </a:solidFill>
          <a:latin typeface="Century Gothic" panose="020B0502020202020204" pitchFamily="34" charset="0"/>
          <a:ea typeface="Trebuchet MS" panose="020B0603020202020204" pitchFamily="34" charset="0"/>
          <a:cs typeface="Trebuchet MS" panose="020B0603020202020204" pitchFamily="34" charset="0"/>
        </a:defRPr>
      </a:lvl4pPr>
      <a:lvl5pPr algn="l" defTabSz="34290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FEFEFE"/>
          </a:solidFill>
          <a:latin typeface="Century Gothic" panose="020B0502020202020204" pitchFamily="34" charset="0"/>
          <a:ea typeface="Trebuchet MS" panose="020B0603020202020204" pitchFamily="34" charset="0"/>
          <a:cs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ts val="450"/>
        </a:spcAft>
        <a:buClr>
          <a:schemeClr val="accent1"/>
        </a:buClr>
        <a:buFont typeface="Wingdings 2" panose="05020102010507070707" pitchFamily="18" charset="2"/>
        <a:buChar char="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ts val="450"/>
        </a:spcAft>
        <a:buClr>
          <a:schemeClr val="accent1"/>
        </a:buClr>
        <a:buFont typeface="Wingdings 2" panose="05020102010507070707" pitchFamily="18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0" fontAlgn="base" hangingPunct="0">
        <a:spcBef>
          <a:spcPct val="20000"/>
        </a:spcBef>
        <a:spcAft>
          <a:spcPts val="450"/>
        </a:spcAft>
        <a:buClr>
          <a:schemeClr val="accent1"/>
        </a:buClr>
        <a:buFont typeface="Wingdings 2" panose="05020102010507070707" pitchFamily="18" charset="2"/>
        <a:buChar char="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ts val="450"/>
        </a:spcAft>
        <a:buClr>
          <a:schemeClr val="accent1"/>
        </a:buClr>
        <a:buFont typeface="Wingdings 2" panose="05020102010507070707" pitchFamily="18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ts val="450"/>
        </a:spcAft>
        <a:buClr>
          <a:schemeClr val="accent1"/>
        </a:buClr>
        <a:buFont typeface="Wingdings 2" panose="05020102010507070707" pitchFamily="18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B4CFCA-5A0D-4F9F-A473-95CBF8D7CC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Simple SQL Queries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AAA7F0-E017-43EC-A7E1-27DEDFEFED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07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4A6BF-18D6-4601-BF08-2ECCE946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(9)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67B92-3C9D-4150-ACD6-8172BB87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325" y="1596748"/>
            <a:ext cx="5622588" cy="499268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A </a:t>
            </a:r>
            <a:r>
              <a:rPr lang="en-US" b="1" dirty="0"/>
              <a:t>_________</a:t>
            </a:r>
            <a:r>
              <a:rPr lang="en-US" dirty="0"/>
              <a:t> is composed of records and fields that hold data.</a:t>
            </a:r>
          </a:p>
          <a:p>
            <a:r>
              <a:rPr lang="en-US" dirty="0"/>
              <a:t>A </a:t>
            </a:r>
            <a:r>
              <a:rPr lang="en-US" b="1" dirty="0"/>
              <a:t>________</a:t>
            </a:r>
            <a:r>
              <a:rPr lang="en-US" dirty="0"/>
              <a:t> is a data structure for a single piece of data</a:t>
            </a:r>
          </a:p>
          <a:p>
            <a:r>
              <a:rPr lang="en-US" dirty="0"/>
              <a:t>A ________ is a grouping of fields within a table that reference one particular object</a:t>
            </a:r>
          </a:p>
          <a:p>
            <a:r>
              <a:rPr lang="en-US" dirty="0"/>
              <a:t>A _________ ____ is a field in a table which uniquely identifies each row/record in a </a:t>
            </a:r>
            <a:r>
              <a:rPr lang="en-US" b="1" dirty="0"/>
              <a:t>database</a:t>
            </a:r>
            <a:r>
              <a:rPr lang="en-US" dirty="0"/>
              <a:t> table (4)</a:t>
            </a:r>
          </a:p>
          <a:p>
            <a:r>
              <a:rPr lang="en-US" dirty="0"/>
              <a:t>The programming language use to make and manipulate databases is? (1)</a:t>
            </a:r>
          </a:p>
          <a:p>
            <a:r>
              <a:rPr lang="en-US" dirty="0"/>
              <a:t>Four types of commands that can be issued using this language (hint: CRUD) (4)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39D7B-5717-4C18-A43D-3F2702B22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872" y="1613244"/>
            <a:ext cx="4876800" cy="479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6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EEB8F-57FE-4849-81FE-39C6A8E9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B613D-2BCE-4EF3-B249-5DB1D9F2F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43334-2D1D-457E-8961-0D234BFAD9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75" t="20671" r="36613" b="35300"/>
          <a:stretch/>
        </p:blipFill>
        <p:spPr>
          <a:xfrm>
            <a:off x="1775521" y="0"/>
            <a:ext cx="84419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8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6871C0-8D3F-4145-8E73-9FC2214C2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65" y="0"/>
            <a:ext cx="9836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5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43" t="11656" r="2213" b="66875"/>
          <a:stretch/>
        </p:blipFill>
        <p:spPr bwMode="auto">
          <a:xfrm>
            <a:off x="1487488" y="1929606"/>
            <a:ext cx="9180512" cy="4451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6945152" y="561454"/>
            <a:ext cx="44374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8000">
                  <a:solidFill>
                    <a:srgbClr val="6FEBA0">
                      <a:satMod val="140000"/>
                    </a:srgb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Century Gothic" panose="020B0502020202020204"/>
              </a:rPr>
              <a:t>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528" y="12129"/>
            <a:ext cx="33843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white"/>
                </a:solidFill>
                <a:latin typeface="Century Gothic" panose="020B0502020202020204"/>
              </a:rPr>
              <a:t>1) Tax     =“Yes”</a:t>
            </a:r>
            <a:br>
              <a:rPr lang="en-GB" sz="2800" dirty="0">
                <a:solidFill>
                  <a:prstClr val="white"/>
                </a:solidFill>
                <a:latin typeface="Century Gothic" panose="020B0502020202020204"/>
              </a:rPr>
            </a:br>
            <a:r>
              <a:rPr lang="en-GB" sz="2800" dirty="0">
                <a:solidFill>
                  <a:prstClr val="white"/>
                </a:solidFill>
                <a:latin typeface="Century Gothic" panose="020B0502020202020204"/>
              </a:rPr>
              <a:t>2) Year &gt;=1996</a:t>
            </a:r>
            <a:br>
              <a:rPr lang="en-GB" sz="2800" dirty="0">
                <a:solidFill>
                  <a:prstClr val="white"/>
                </a:solidFill>
                <a:latin typeface="Century Gothic" panose="020B0502020202020204"/>
              </a:rPr>
            </a:br>
            <a:r>
              <a:rPr lang="en-GB" sz="2800" dirty="0">
                <a:solidFill>
                  <a:prstClr val="white"/>
                </a:solidFill>
                <a:latin typeface="Century Gothic" panose="020B0502020202020204"/>
              </a:rPr>
              <a:t>3) Not “blue”</a:t>
            </a:r>
          </a:p>
          <a:p>
            <a:r>
              <a:rPr lang="en-GB" sz="2800" dirty="0">
                <a:solidFill>
                  <a:prstClr val="white"/>
                </a:solidFill>
                <a:latin typeface="Century Gothic" panose="020B0502020202020204"/>
              </a:rPr>
              <a:t>4) Model  E*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4566" y="0"/>
            <a:ext cx="62646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prstClr val="white"/>
                </a:solidFill>
                <a:latin typeface="Century Gothic" panose="020B0502020202020204"/>
              </a:rPr>
              <a:t>5) Tax=“Yes” AND Year &lt;=1991</a:t>
            </a:r>
          </a:p>
          <a:p>
            <a:endParaRPr lang="en-GB" sz="2800" dirty="0">
              <a:solidFill>
                <a:prstClr val="white"/>
              </a:solidFill>
              <a:latin typeface="Century Gothic" panose="020B0502020202020204"/>
            </a:endParaRPr>
          </a:p>
          <a:p>
            <a:endParaRPr lang="en-GB" sz="2800" dirty="0">
              <a:solidFill>
                <a:prstClr val="white"/>
              </a:solidFill>
              <a:latin typeface="Century Gothic" panose="020B0502020202020204"/>
            </a:endParaRPr>
          </a:p>
          <a:p>
            <a:r>
              <a:rPr lang="en-GB" sz="2800" dirty="0">
                <a:solidFill>
                  <a:prstClr val="white"/>
                </a:solidFill>
                <a:latin typeface="Century Gothic" panose="020B0502020202020204"/>
              </a:rPr>
              <a:t>6) Between [1991] AND [1994]</a:t>
            </a:r>
          </a:p>
        </p:txBody>
      </p:sp>
    </p:spTree>
    <p:extLst>
      <p:ext uri="{BB962C8B-B14F-4D97-AF65-F5344CB8AC3E}">
        <p14:creationId xmlns:p14="http://schemas.microsoft.com/office/powerpoint/2010/main" val="214014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77" y="726997"/>
            <a:ext cx="4914897" cy="634328"/>
          </a:xfrm>
        </p:spPr>
        <p:txBody>
          <a:bodyPr/>
          <a:lstStyle/>
          <a:p>
            <a:r>
              <a:rPr lang="en-GB" dirty="0"/>
              <a:t>Query Operator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3524" y="1844825"/>
            <a:ext cx="4064964" cy="4525963"/>
          </a:xfrm>
        </p:spPr>
        <p:txBody>
          <a:bodyPr>
            <a:noAutofit/>
          </a:bodyPr>
          <a:lstStyle/>
          <a:p>
            <a:pPr marL="806958" indent="-742950">
              <a:buFont typeface="+mj-lt"/>
              <a:buAutoNum type="arabicPeriod"/>
            </a:pPr>
            <a:r>
              <a:rPr lang="en-GB" sz="2400" b="1" dirty="0"/>
              <a:t>(=) – don’t need to use!</a:t>
            </a:r>
          </a:p>
          <a:p>
            <a:pPr marL="806958" indent="-742950">
              <a:buFont typeface="+mj-lt"/>
              <a:buAutoNum type="arabicPeriod"/>
            </a:pPr>
            <a:r>
              <a:rPr lang="en-GB" sz="2400" b="1" dirty="0"/>
              <a:t>&gt;=</a:t>
            </a:r>
          </a:p>
          <a:p>
            <a:pPr marL="806958" indent="-742950">
              <a:buFont typeface="+mj-lt"/>
              <a:buAutoNum type="arabicPeriod"/>
            </a:pPr>
            <a:r>
              <a:rPr lang="en-GB" sz="2400" b="1" dirty="0"/>
              <a:t>&gt;</a:t>
            </a:r>
          </a:p>
          <a:p>
            <a:pPr marL="806958" indent="-742950">
              <a:buFont typeface="+mj-lt"/>
              <a:buAutoNum type="arabicPeriod"/>
            </a:pPr>
            <a:r>
              <a:rPr lang="en-GB" sz="2400" b="1" dirty="0"/>
              <a:t>&lt;</a:t>
            </a:r>
          </a:p>
          <a:p>
            <a:pPr marL="806958" indent="-742950">
              <a:buFont typeface="+mj-lt"/>
              <a:buAutoNum type="arabicPeriod"/>
            </a:pPr>
            <a:r>
              <a:rPr lang="en-GB" sz="2400" b="1" dirty="0"/>
              <a:t>&lt;=</a:t>
            </a:r>
          </a:p>
          <a:p>
            <a:pPr marL="806958" indent="-742950">
              <a:buFont typeface="+mj-lt"/>
              <a:buAutoNum type="arabicPeriod"/>
            </a:pPr>
            <a:r>
              <a:rPr lang="en-GB" sz="2400" b="1" dirty="0"/>
              <a:t>*</a:t>
            </a:r>
          </a:p>
          <a:p>
            <a:pPr marL="806958" indent="-742950">
              <a:buFont typeface="+mj-lt"/>
              <a:buAutoNum type="arabicPeriod"/>
            </a:pPr>
            <a:r>
              <a:rPr lang="en-GB" sz="2400" b="1" dirty="0"/>
              <a:t>Not</a:t>
            </a:r>
          </a:p>
          <a:p>
            <a:pPr marL="806958" indent="-742950">
              <a:buFont typeface="+mj-lt"/>
              <a:buAutoNum type="arabicPeriod"/>
            </a:pPr>
            <a:r>
              <a:rPr lang="en-GB" sz="2400" b="1" dirty="0"/>
              <a:t>BETWEEN X AND 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787ED-3459-4F6B-8EB2-E682F49913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728"/>
          <a:stretch/>
        </p:blipFill>
        <p:spPr>
          <a:xfrm>
            <a:off x="6096000" y="1904644"/>
            <a:ext cx="6008812" cy="4883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7F5FA2-44C2-4B1C-B5C7-BD7C2BDB7D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921"/>
          <a:stretch/>
        </p:blipFill>
        <p:spPr>
          <a:xfrm>
            <a:off x="0" y="1456968"/>
            <a:ext cx="6150972" cy="48830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4BA421-556F-465D-807C-FA8A045D3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695" y="14843"/>
            <a:ext cx="5609518" cy="447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0F8987-818F-4FFF-B590-7D8940318B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695" y="522337"/>
            <a:ext cx="5592899" cy="13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0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70" b="8594"/>
          <a:stretch/>
        </p:blipFill>
        <p:spPr bwMode="auto">
          <a:xfrm>
            <a:off x="1079500" y="0"/>
            <a:ext cx="1056845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79500" y="2132856"/>
            <a:ext cx="3131840" cy="2592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prstClr val="white"/>
                </a:solidFill>
                <a:latin typeface="Century Gothic" panose="020B0502020202020204"/>
              </a:rPr>
              <a:t>YOU MUST APPLY THE SKILL IN VIDEO 8 TO THE PROCEEDING QUESTIONS</a:t>
            </a:r>
          </a:p>
        </p:txBody>
      </p:sp>
    </p:spTree>
    <p:extLst>
      <p:ext uri="{BB962C8B-B14F-4D97-AF65-F5344CB8AC3E}">
        <p14:creationId xmlns:p14="http://schemas.microsoft.com/office/powerpoint/2010/main" val="1596996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Quotable">
  <a:themeElements>
    <a:clrScheme name="Custom 1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70C0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53805E8EAD2A4C986384DB8942254A" ma:contentTypeVersion="5" ma:contentTypeDescription="Create a new document." ma:contentTypeScope="" ma:versionID="b66066328e6e420efc1ef5b42eb559fe">
  <xsd:schema xmlns:xsd="http://www.w3.org/2001/XMLSchema" xmlns:xs="http://www.w3.org/2001/XMLSchema" xmlns:p="http://schemas.microsoft.com/office/2006/metadata/properties" xmlns:ns2="983be8d8-4734-4546-a130-05e009e34a06" xmlns:ns3="e670973d-f435-46ff-9923-53181f1ea09b" targetNamespace="http://schemas.microsoft.com/office/2006/metadata/properties" ma:root="true" ma:fieldsID="d4d1ce2c54b9641fd4d2f6c71df6aaf7" ns2:_="" ns3:_="">
    <xsd:import namespace="983be8d8-4734-4546-a130-05e009e34a06"/>
    <xsd:import namespace="e670973d-f435-46ff-9923-53181f1ea0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3be8d8-4734-4546-a130-05e009e34a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70973d-f435-46ff-9923-53181f1ea09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FAB4CB-048F-4399-B2CE-AC82704EA2A6}"/>
</file>

<file path=customXml/itemProps2.xml><?xml version="1.0" encoding="utf-8"?>
<ds:datastoreItem xmlns:ds="http://schemas.openxmlformats.org/officeDocument/2006/customXml" ds:itemID="{671074BF-1A4C-46D0-8B42-90F54F084F18}"/>
</file>

<file path=customXml/itemProps3.xml><?xml version="1.0" encoding="utf-8"?>
<ds:datastoreItem xmlns:ds="http://schemas.openxmlformats.org/officeDocument/2006/customXml" ds:itemID="{9136CCDC-74C0-4CB1-84A1-308719E6E9FB}"/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211</Words>
  <Application>Microsoft Office PowerPoint</Application>
  <PresentationFormat>Widescreen</PresentationFormat>
  <Paragraphs>47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Century Gothic</vt:lpstr>
      <vt:lpstr>Trebuchet MS</vt:lpstr>
      <vt:lpstr>Wingdings 2</vt:lpstr>
      <vt:lpstr>1_Quotable</vt:lpstr>
      <vt:lpstr>Simple SQL Queries</vt:lpstr>
      <vt:lpstr>RECAP (9)</vt:lpstr>
      <vt:lpstr>PowerPoint Presentation</vt:lpstr>
      <vt:lpstr>PowerPoint Presentation</vt:lpstr>
      <vt:lpstr>PowerPoint Presentation</vt:lpstr>
      <vt:lpstr>Query Operator Symbols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SQL Queries</dc:title>
  <dc:creator>Alex Melhuish</dc:creator>
  <cp:lastModifiedBy>Alex Melhuish</cp:lastModifiedBy>
  <cp:revision>4</cp:revision>
  <dcterms:created xsi:type="dcterms:W3CDTF">2020-06-08T11:54:08Z</dcterms:created>
  <dcterms:modified xsi:type="dcterms:W3CDTF">2021-06-18T10:24:49Z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0x010100FD53805E8EAD2A4C986384DB8942254A</vt:lpwstr>
  </property>
</Properties>
</file>